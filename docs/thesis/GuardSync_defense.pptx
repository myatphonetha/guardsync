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committee. One sentence: GuardSync is the phone application that receives a Bluetooth text line from a holder board, shows it, and stores it. Say you will be clear about what the prototype does not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lines slowly. Pause on the last one. If they remember one slide, it should be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 the idea, not a number. Camarillo and Liu motivate the mouthguard. McCrory is why you do not diagnose. Do not claim your board has been compared with a headform.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ask 'is this the mouthguard?': the chip is the one planned for the mouthguard. The Argon is a holder so the phone could be built first. The Nordic development kit is a different 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if they want one: 123456,15,95,72,98,98.4,160. Say the defaults on a short line are not measurements. File: ble/nordicUart.ts.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code if they ask. uartStream.ts receives the notify. useArgonLiveTelemetry.ts has the 2-second gate. upload.ts does the insert. History gives the cloud 8 seconds, then keeps the local rows.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recovers oxygen, temperature, and bite force by parsing csv_raw again. If that parse fails, the old defaults come back. Table name: argon_telemetry_samples. Signed-in user id is sent with the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live in modes/detect.ts. Confirm is modes/confirmChange.ts. Confidence numbers on the rules are constants, not learned probabilities. Night uses the phone clock.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The color bands use the raw integers. A larger number is treated as a larger event. That is not a measurement of how the head moved, and it is not a way to know why the jaw loaded.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Argon is not in the room, use the demo path and say so. The demo writes a fixed line and the device id 'demo'. Do not call that a collected impact. The cards can also show 95 before any real reading, and the band treats that as moderate. The next four slides are photographs of the Android 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Continue on the role screen stays off until a card is selected. The profile screen stores nothing. Pairing and the five calibration labels sit between the second and third photos and were not photographed. Calibration stores no baseline. The activity choice is the label later rows carry.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 and body size are literals, not a loaded profile. Game puts head acceleration first. Colors are interface cuts: warning at 90, high at 120. Say the band is a reading aid, not a diagnosis. On the third photo the detector suggests Game while Training is still selected. Switch relabels recent phone rows. Keep leaves the label. Database rows already inserted are not rewritten.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badge counts chart marks, not medical events. This window was set to Sleep and the banner suggests Game. The strip is the confirmed activity over the same seconds as the bars. Heart rate is marked above 180 or below 50. SpO2 below 92. Temperature above 100.4. Those cuts are not the same cuts as the dashboard colors.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so nobody thinks these are live mouthguards. The parent screen replaces the tiles about every three seconds inside the component. The trainer list is a fixed array. The disconnected mark is separate from the risk label. View full history only opens the history route. Neither screen subscribes to Bluetooth.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they ask. Chapter Eight is an inspection of version 1.0.0, not a bench campaign. If they ask for a percentage, say you do not have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is device id plus the phone's receipt time. Live success does not remove the outbox row. Only a successful history sync removes it, after it may have inserted again. This is a real bug. Do not defend it as a feature.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contribution is the software path and the honest boundary. It is not a biomechanics result and not a clinical result.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Resting jaw and a deliberate hard bite were the point of calibration. That screen does not record them yet. A collision is a short spike of bite force together with head acceleration. A bite holds while the head stays quiet.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Do not fill silence with a new claim. If you do not know, say which chapter states the limit. Files to offer: ble/nordicUart.ts and telemetry/upload.ts.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74920"/>
            <a:ext cx="12191695" cy="73152"/>
          </a:xfrm>
          <a:prstGeom prst="rect">
            <a:avLst/>
          </a:prstGeom>
          <a:solidFill>
            <a:srgbClr val="CFC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058400" cy="320040"/>
          </a:xfrm>
          <a:prstGeom prst="rect">
            <a:avLst/>
          </a:prstGeom>
          <a:noFill/>
        </p:spPr>
        <p:txBody>
          <a:bodyPr wrap="square">
            <a:spAutoFit/>
          </a:bodyPr>
          <a:lstStyle/>
          <a:p>
            <a:pPr algn="l"/>
            <a:r>
              <a:rPr sz="1600" b="1">
                <a:solidFill>
                  <a:srgbClr val="CFC493"/>
                </a:solidFill>
                <a:latin typeface="Calibri"/>
              </a:rPr>
              <a:t>UNIVERSITY OF SOUTH FLORIDA</a:t>
            </a:r>
          </a:p>
        </p:txBody>
      </p:sp>
      <p:sp>
        <p:nvSpPr>
          <p:cNvPr id="5" name="TextBox 4"/>
          <p:cNvSpPr txBox="1"/>
          <p:nvPr/>
        </p:nvSpPr>
        <p:spPr>
          <a:xfrm>
            <a:off x="640080" y="1554480"/>
            <a:ext cx="10515600" cy="2011680"/>
          </a:xfrm>
          <a:prstGeom prst="rect">
            <a:avLst/>
          </a:prstGeom>
          <a:noFill/>
        </p:spPr>
        <p:txBody>
          <a:bodyPr wrap="square">
            <a:spAutoFit/>
          </a:bodyPr>
          <a:lstStyle/>
          <a:p>
            <a:pPr algn="l"/>
            <a:r>
              <a:rPr sz="4000" b="1">
                <a:solidFill>
                  <a:srgbClr val="FFFFFF"/>
                </a:solidFill>
                <a:latin typeface="Calibri"/>
              </a:rPr>
              <a:t>A companion application for a
sensor-embedded athletic mouthguard</a:t>
            </a:r>
          </a:p>
        </p:txBody>
      </p:sp>
      <p:sp>
        <p:nvSpPr>
          <p:cNvPr id="6" name="TextBox 5"/>
          <p:cNvSpPr txBox="1"/>
          <p:nvPr/>
        </p:nvSpPr>
        <p:spPr>
          <a:xfrm>
            <a:off x="640080" y="3977639"/>
            <a:ext cx="9144000" cy="365760"/>
          </a:xfrm>
          <a:prstGeom prst="rect">
            <a:avLst/>
          </a:prstGeom>
          <a:noFill/>
        </p:spPr>
        <p:txBody>
          <a:bodyPr wrap="square">
            <a:spAutoFit/>
          </a:bodyPr>
          <a:lstStyle/>
          <a:p>
            <a:pPr algn="l"/>
            <a:r>
              <a:rPr sz="2200" b="0">
                <a:solidFill>
                  <a:srgbClr val="F7F4EC"/>
                </a:solidFill>
                <a:latin typeface="Calibri"/>
              </a:rPr>
              <a:t>Master's thesis defense</a:t>
            </a:r>
          </a:p>
        </p:txBody>
      </p:sp>
      <p:sp>
        <p:nvSpPr>
          <p:cNvPr id="7" name="TextBox 6"/>
          <p:cNvSpPr txBox="1"/>
          <p:nvPr/>
        </p:nvSpPr>
        <p:spPr>
          <a:xfrm>
            <a:off x="640080" y="5394960"/>
            <a:ext cx="7315200" cy="365760"/>
          </a:xfrm>
          <a:prstGeom prst="rect">
            <a:avLst/>
          </a:prstGeom>
          <a:noFill/>
        </p:spPr>
        <p:txBody>
          <a:bodyPr wrap="square">
            <a:spAutoFit/>
          </a:bodyPr>
          <a:lstStyle/>
          <a:p>
            <a:pPr algn="l"/>
            <a:r>
              <a:rPr sz="2200" b="1">
                <a:solidFill>
                  <a:srgbClr val="FFFFFF"/>
                </a:solidFill>
                <a:latin typeface="Calibri"/>
              </a:rPr>
              <a:t>Myat Phone Tha</a:t>
            </a:r>
          </a:p>
        </p:txBody>
      </p:sp>
      <p:sp>
        <p:nvSpPr>
          <p:cNvPr id="8" name="TextBox 7"/>
          <p:cNvSpPr txBox="1"/>
          <p:nvPr/>
        </p:nvSpPr>
        <p:spPr>
          <a:xfrm>
            <a:off x="640080" y="5852160"/>
            <a:ext cx="9144000" cy="320040"/>
          </a:xfrm>
          <a:prstGeom prst="rect">
            <a:avLst/>
          </a:prstGeom>
          <a:noFill/>
        </p:spPr>
        <p:txBody>
          <a:bodyPr wrap="square">
            <a:spAutoFit/>
          </a:bodyPr>
          <a:lstStyle/>
          <a:p>
            <a:pPr algn="l"/>
            <a:r>
              <a:rPr sz="1600" b="0">
                <a:solidFill>
                  <a:srgbClr val="F7F4EC"/>
                </a:solidFill>
                <a:latin typeface="Calibri"/>
              </a:rPr>
              <a:t>Department of Computer Science and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2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THE CLAIM</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A phone path for one Bluetooth text line</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GuardSync receives a text line from an nRF52840 on a Particle Argon board.</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It shows the line, saves it on the phone, and uploads it when the athlete is signed in.</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The athlete, not the software, confirms the activity label.</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This is not a concussion test, and the Argon is not the mouthguard.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3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PROBLEM</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A sensor reading still has to reach a person</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A short head impact can be missed by someone watching from the sideline.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A mouthguard can hold sensors because the upper teeth are fixed to the skull.</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The reading is useful only after a phone can receive it, show it, and keep it.</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Deciding that a concussion occurred stays with a clinician.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4  /  19</a:t>
            </a:r>
          </a:p>
        </p:txBody>
      </p:sp>
      <p:sp>
        <p:nvSpPr>
          <p:cNvPr id="7" name="TextBox 6"/>
          <p:cNvSpPr txBox="1"/>
          <p:nvPr/>
        </p:nvSpPr>
        <p:spPr>
          <a:xfrm>
            <a:off x="502920" y="292608"/>
            <a:ext cx="10972800" cy="274320"/>
          </a:xfrm>
          <a:prstGeom prst="rect">
            <a:avLst/>
          </a:prstGeom>
          <a:noFill/>
        </p:spPr>
        <p:txBody>
          <a:bodyPr wrap="square">
            <a:spAutoFit/>
          </a:bodyPr>
          <a:lstStyle/>
          <a:p>
            <a:pPr algn="l"/>
            <a:r>
              <a:rPr sz="1400" b="1">
                <a:solidFill>
                  <a:srgbClr val="006747"/>
                </a:solidFill>
                <a:latin typeface="Calibri"/>
              </a:rPr>
              <a:t>HARDWARE</a:t>
            </a:r>
          </a:p>
        </p:txBody>
      </p:sp>
      <p:sp>
        <p:nvSpPr>
          <p:cNvPr id="8" name="TextBox 7"/>
          <p:cNvSpPr txBox="1"/>
          <p:nvPr/>
        </p:nvSpPr>
        <p:spPr>
          <a:xfrm>
            <a:off x="502920" y="594360"/>
            <a:ext cx="10972800" cy="731520"/>
          </a:xfrm>
          <a:prstGeom prst="rect">
            <a:avLst/>
          </a:prstGeom>
          <a:noFill/>
        </p:spPr>
        <p:txBody>
          <a:bodyPr wrap="square">
            <a:spAutoFit/>
          </a:bodyPr>
          <a:lstStyle/>
          <a:p>
            <a:pPr algn="l"/>
            <a:r>
              <a:rPr sz="3000" b="1">
                <a:solidFill>
                  <a:srgbClr val="1C1C1C"/>
                </a:solidFill>
                <a:latin typeface="Calibri"/>
              </a:rPr>
              <a:t>The chip is real. The board is a holder.</a:t>
            </a:r>
          </a:p>
        </p:txBody>
      </p:sp>
      <p:sp>
        <p:nvSpPr>
          <p:cNvPr id="9" name="Rounded Rectangle 8"/>
          <p:cNvSpPr/>
          <p:nvPr/>
        </p:nvSpPr>
        <p:spPr>
          <a:xfrm>
            <a:off x="45720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4846320" cy="457200"/>
          </a:xfrm>
          <a:prstGeom prst="rect">
            <a:avLst/>
          </a:prstGeom>
          <a:noFill/>
        </p:spPr>
        <p:txBody>
          <a:bodyPr wrap="square">
            <a:spAutoFit/>
          </a:bodyPr>
          <a:lstStyle/>
          <a:p>
            <a:pPr algn="l"/>
            <a:r>
              <a:rPr sz="2000" b="1">
                <a:solidFill>
                  <a:srgbClr val="006747"/>
                </a:solidFill>
                <a:latin typeface="Calibri"/>
              </a:rPr>
              <a:t>On the bench today</a:t>
            </a:r>
          </a:p>
        </p:txBody>
      </p:sp>
      <p:sp>
        <p:nvSpPr>
          <p:cNvPr id="11" name="TextBox 10"/>
          <p:cNvSpPr txBox="1"/>
          <p:nvPr/>
        </p:nvSpPr>
        <p:spPr>
          <a:xfrm>
            <a:off x="731520" y="2423160"/>
            <a:ext cx="4846320" cy="640080"/>
          </a:xfrm>
          <a:prstGeom prst="rect">
            <a:avLst/>
          </a:prstGeom>
          <a:noFill/>
        </p:spPr>
        <p:txBody>
          <a:bodyPr wrap="square">
            <a:spAutoFit/>
          </a:bodyPr>
          <a:lstStyle/>
          <a:p>
            <a:pPr algn="l"/>
            <a:r>
              <a:rPr sz="1800" b="0">
                <a:solidFill>
                  <a:srgbClr val="1C1C1C"/>
                </a:solidFill>
                <a:latin typeface="Calibri"/>
              </a:rPr>
              <a:t>Chip: Nordic nRF52840</a:t>
            </a:r>
          </a:p>
        </p:txBody>
      </p:sp>
      <p:sp>
        <p:nvSpPr>
          <p:cNvPr id="12" name="TextBox 11"/>
          <p:cNvSpPr txBox="1"/>
          <p:nvPr/>
        </p:nvSpPr>
        <p:spPr>
          <a:xfrm>
            <a:off x="731520" y="3081528"/>
            <a:ext cx="4846320" cy="640080"/>
          </a:xfrm>
          <a:prstGeom prst="rect">
            <a:avLst/>
          </a:prstGeom>
          <a:noFill/>
        </p:spPr>
        <p:txBody>
          <a:bodyPr wrap="square">
            <a:spAutoFit/>
          </a:bodyPr>
          <a:lstStyle/>
          <a:p>
            <a:pPr algn="l"/>
            <a:r>
              <a:rPr sz="1800" b="0">
                <a:solidFill>
                  <a:srgbClr val="1C1C1C"/>
                </a:solidFill>
                <a:latin typeface="Calibri"/>
              </a:rPr>
              <a:t>Board: Particle Argon</a:t>
            </a:r>
          </a:p>
        </p:txBody>
      </p:sp>
      <p:sp>
        <p:nvSpPr>
          <p:cNvPr id="13" name="TextBox 12"/>
          <p:cNvSpPr txBox="1"/>
          <p:nvPr/>
        </p:nvSpPr>
        <p:spPr>
          <a:xfrm>
            <a:off x="731520" y="3739896"/>
            <a:ext cx="4846320" cy="640080"/>
          </a:xfrm>
          <a:prstGeom prst="rect">
            <a:avLst/>
          </a:prstGeom>
          <a:noFill/>
        </p:spPr>
        <p:txBody>
          <a:bodyPr wrap="square">
            <a:spAutoFit/>
          </a:bodyPr>
          <a:lstStyle/>
          <a:p>
            <a:pPr algn="l"/>
            <a:r>
              <a:rPr sz="1800" b="0">
                <a:solidFill>
                  <a:srgbClr val="1C1C1C"/>
                </a:solidFill>
                <a:latin typeface="Calibri"/>
              </a:rPr>
              <a:t>Bluetooth text line in</a:t>
            </a:r>
          </a:p>
        </p:txBody>
      </p:sp>
      <p:sp>
        <p:nvSpPr>
          <p:cNvPr id="14" name="TextBox 13"/>
          <p:cNvSpPr txBox="1"/>
          <p:nvPr/>
        </p:nvSpPr>
        <p:spPr>
          <a:xfrm>
            <a:off x="731520" y="4398264"/>
            <a:ext cx="4846320" cy="640080"/>
          </a:xfrm>
          <a:prstGeom prst="rect">
            <a:avLst/>
          </a:prstGeom>
          <a:noFill/>
        </p:spPr>
        <p:txBody>
          <a:bodyPr wrap="square">
            <a:spAutoFit/>
          </a:bodyPr>
          <a:lstStyle/>
          <a:p>
            <a:pPr algn="l"/>
            <a:r>
              <a:rPr sz="1800" b="0">
                <a:solidFill>
                  <a:srgbClr val="1C1C1C"/>
                </a:solidFill>
                <a:latin typeface="Calibri"/>
              </a:rPr>
              <a:t>ESP32 Wi-Fi is unused</a:t>
            </a:r>
          </a:p>
        </p:txBody>
      </p:sp>
      <p:sp>
        <p:nvSpPr>
          <p:cNvPr id="15" name="Rounded Rectangle 14"/>
          <p:cNvSpPr/>
          <p:nvPr/>
        </p:nvSpPr>
        <p:spPr>
          <a:xfrm>
            <a:off x="626364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828800"/>
            <a:ext cx="4846320" cy="457200"/>
          </a:xfrm>
          <a:prstGeom prst="rect">
            <a:avLst/>
          </a:prstGeom>
          <a:noFill/>
        </p:spPr>
        <p:txBody>
          <a:bodyPr wrap="square">
            <a:spAutoFit/>
          </a:bodyPr>
          <a:lstStyle/>
          <a:p>
            <a:pPr algn="l"/>
            <a:r>
              <a:rPr sz="2000" b="1">
                <a:solidFill>
                  <a:srgbClr val="006747"/>
                </a:solidFill>
                <a:latin typeface="Calibri"/>
              </a:rPr>
              <a:t>Not this project</a:t>
            </a:r>
          </a:p>
        </p:txBody>
      </p:sp>
      <p:sp>
        <p:nvSpPr>
          <p:cNvPr id="17" name="TextBox 16"/>
          <p:cNvSpPr txBox="1"/>
          <p:nvPr/>
        </p:nvSpPr>
        <p:spPr>
          <a:xfrm>
            <a:off x="6537960" y="2423160"/>
            <a:ext cx="4846320" cy="640080"/>
          </a:xfrm>
          <a:prstGeom prst="rect">
            <a:avLst/>
          </a:prstGeom>
          <a:noFill/>
        </p:spPr>
        <p:txBody>
          <a:bodyPr wrap="square">
            <a:spAutoFit/>
          </a:bodyPr>
          <a:lstStyle/>
          <a:p>
            <a:pPr algn="l"/>
            <a:r>
              <a:rPr sz="1800" b="0">
                <a:solidFill>
                  <a:srgbClr val="1C1C1C"/>
                </a:solidFill>
                <a:latin typeface="Calibri"/>
              </a:rPr>
              <a:t>Not the mouthguard board</a:t>
            </a:r>
          </a:p>
        </p:txBody>
      </p:sp>
      <p:sp>
        <p:nvSpPr>
          <p:cNvPr id="18" name="TextBox 17"/>
          <p:cNvSpPr txBox="1"/>
          <p:nvPr/>
        </p:nvSpPr>
        <p:spPr>
          <a:xfrm>
            <a:off x="6537960" y="3081528"/>
            <a:ext cx="4846320" cy="640080"/>
          </a:xfrm>
          <a:prstGeom prst="rect">
            <a:avLst/>
          </a:prstGeom>
          <a:noFill/>
        </p:spPr>
        <p:txBody>
          <a:bodyPr wrap="square">
            <a:spAutoFit/>
          </a:bodyPr>
          <a:lstStyle/>
          <a:p>
            <a:pPr algn="l"/>
            <a:r>
              <a:rPr sz="1800" b="0">
                <a:solidFill>
                  <a:srgbClr val="1C1C1C"/>
                </a:solidFill>
                <a:latin typeface="Calibri"/>
              </a:rPr>
              <a:t>Not an nRF52840 DK</a:t>
            </a:r>
          </a:p>
        </p:txBody>
      </p:sp>
      <p:sp>
        <p:nvSpPr>
          <p:cNvPr id="19" name="TextBox 18"/>
          <p:cNvSpPr txBox="1"/>
          <p:nvPr/>
        </p:nvSpPr>
        <p:spPr>
          <a:xfrm>
            <a:off x="6537960" y="3739896"/>
            <a:ext cx="4846320" cy="640080"/>
          </a:xfrm>
          <a:prstGeom prst="rect">
            <a:avLst/>
          </a:prstGeom>
          <a:noFill/>
        </p:spPr>
        <p:txBody>
          <a:bodyPr wrap="square">
            <a:spAutoFit/>
          </a:bodyPr>
          <a:lstStyle/>
          <a:p>
            <a:pPr algn="l"/>
            <a:r>
              <a:rPr sz="1800" b="0">
                <a:solidFill>
                  <a:srgbClr val="1C1C1C"/>
                </a:solidFill>
                <a:latin typeface="Calibri"/>
              </a:rPr>
              <a:t>Message format can change</a:t>
            </a:r>
          </a:p>
        </p:txBody>
      </p:sp>
      <p:sp>
        <p:nvSpPr>
          <p:cNvPr id="20" name="TextBox 19"/>
          <p:cNvSpPr txBox="1"/>
          <p:nvPr/>
        </p:nvSpPr>
        <p:spPr>
          <a:xfrm>
            <a:off x="6537960" y="4398264"/>
            <a:ext cx="4846320" cy="640080"/>
          </a:xfrm>
          <a:prstGeom prst="rect">
            <a:avLst/>
          </a:prstGeom>
          <a:noFill/>
        </p:spPr>
        <p:txBody>
          <a:bodyPr wrap="square">
            <a:spAutoFit/>
          </a:bodyPr>
          <a:lstStyle/>
          <a:p>
            <a:pPr algn="l"/>
            <a:r>
              <a:rPr sz="1800" b="0">
                <a:solidFill>
                  <a:srgbClr val="1C1C1C"/>
                </a:solidFill>
                <a:latin typeface="Calibri"/>
              </a:rPr>
              <a:t>No firmware in the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5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MESSAGE FORMAT</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One comma-separated line, about every 2 seconds</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Fields: uptime, minutes, head acceleration, heart rate, oxygen, temperature, bite force.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The phone accepts a 7-field line and an older 3-field line.</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A short line fills oxygen, temperature, and bite force with defaults.</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Those defaults are not measurements.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6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PATH</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From the notify to a stored row</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1.  Bluetooth notify  →  base64 decode  →  parse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2.  Dashboard updates on every accepted line</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3.  Every 2 seconds: save on the phone, then insert if signed in</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4.  History merges the phone and the cloud, and does not wait forever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7  /  19</a:t>
            </a:r>
          </a:p>
        </p:txBody>
      </p:sp>
      <p:sp>
        <p:nvSpPr>
          <p:cNvPr id="7" name="TextBox 6"/>
          <p:cNvSpPr txBox="1"/>
          <p:nvPr/>
        </p:nvSpPr>
        <p:spPr>
          <a:xfrm>
            <a:off x="502920" y="292608"/>
            <a:ext cx="10972800" cy="274320"/>
          </a:xfrm>
          <a:prstGeom prst="rect">
            <a:avLst/>
          </a:prstGeom>
          <a:noFill/>
        </p:spPr>
        <p:txBody>
          <a:bodyPr wrap="square">
            <a:spAutoFit/>
          </a:bodyPr>
          <a:lstStyle/>
          <a:p>
            <a:pPr algn="l"/>
            <a:r>
              <a:rPr sz="1400" b="1">
                <a:solidFill>
                  <a:srgbClr val="006747"/>
                </a:solidFill>
                <a:latin typeface="Calibri"/>
              </a:rPr>
              <a:t>STORAGE</a:t>
            </a:r>
          </a:p>
        </p:txBody>
      </p:sp>
      <p:sp>
        <p:nvSpPr>
          <p:cNvPr id="8" name="TextBox 7"/>
          <p:cNvSpPr txBox="1"/>
          <p:nvPr/>
        </p:nvSpPr>
        <p:spPr>
          <a:xfrm>
            <a:off x="502920" y="594360"/>
            <a:ext cx="10972800" cy="731520"/>
          </a:xfrm>
          <a:prstGeom prst="rect">
            <a:avLst/>
          </a:prstGeom>
          <a:noFill/>
        </p:spPr>
        <p:txBody>
          <a:bodyPr wrap="square">
            <a:spAutoFit/>
          </a:bodyPr>
          <a:lstStyle/>
          <a:p>
            <a:pPr algn="l"/>
            <a:r>
              <a:rPr sz="3000" b="1">
                <a:solidFill>
                  <a:srgbClr val="1C1C1C"/>
                </a:solidFill>
                <a:latin typeface="Calibri"/>
              </a:rPr>
              <a:t>What actually gets saved</a:t>
            </a:r>
          </a:p>
        </p:txBody>
      </p:sp>
      <p:sp>
        <p:nvSpPr>
          <p:cNvPr id="9" name="Rounded Rectangle 8"/>
          <p:cNvSpPr/>
          <p:nvPr/>
        </p:nvSpPr>
        <p:spPr>
          <a:xfrm>
            <a:off x="45720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4846320" cy="457200"/>
          </a:xfrm>
          <a:prstGeom prst="rect">
            <a:avLst/>
          </a:prstGeom>
          <a:noFill/>
        </p:spPr>
        <p:txBody>
          <a:bodyPr wrap="square">
            <a:spAutoFit/>
          </a:bodyPr>
          <a:lstStyle/>
          <a:p>
            <a:pPr algn="l"/>
            <a:r>
              <a:rPr sz="2000" b="1">
                <a:solidFill>
                  <a:srgbClr val="006747"/>
                </a:solidFill>
                <a:latin typeface="Calibri"/>
              </a:rPr>
              <a:t>Its own column</a:t>
            </a:r>
          </a:p>
        </p:txBody>
      </p:sp>
      <p:sp>
        <p:nvSpPr>
          <p:cNvPr id="11" name="TextBox 10"/>
          <p:cNvSpPr txBox="1"/>
          <p:nvPr/>
        </p:nvSpPr>
        <p:spPr>
          <a:xfrm>
            <a:off x="731520" y="2423160"/>
            <a:ext cx="4846320" cy="640080"/>
          </a:xfrm>
          <a:prstGeom prst="rect">
            <a:avLst/>
          </a:prstGeom>
          <a:noFill/>
        </p:spPr>
        <p:txBody>
          <a:bodyPr wrap="square">
            <a:spAutoFit/>
          </a:bodyPr>
          <a:lstStyle/>
          <a:p>
            <a:pPr algn="l"/>
            <a:r>
              <a:rPr sz="1800" b="0">
                <a:solidFill>
                  <a:srgbClr val="1C1C1C"/>
                </a:solidFill>
                <a:latin typeface="Calibri"/>
              </a:rPr>
              <a:t>Head acceleration → metric_v1</a:t>
            </a:r>
          </a:p>
        </p:txBody>
      </p:sp>
      <p:sp>
        <p:nvSpPr>
          <p:cNvPr id="12" name="TextBox 11"/>
          <p:cNvSpPr txBox="1"/>
          <p:nvPr/>
        </p:nvSpPr>
        <p:spPr>
          <a:xfrm>
            <a:off x="731520" y="3081528"/>
            <a:ext cx="4846320" cy="640080"/>
          </a:xfrm>
          <a:prstGeom prst="rect">
            <a:avLst/>
          </a:prstGeom>
          <a:noFill/>
        </p:spPr>
        <p:txBody>
          <a:bodyPr wrap="square">
            <a:spAutoFit/>
          </a:bodyPr>
          <a:lstStyle/>
          <a:p>
            <a:pPr algn="l"/>
            <a:r>
              <a:rPr sz="1800" b="0">
                <a:solidFill>
                  <a:srgbClr val="1C1C1C"/>
                </a:solidFill>
                <a:latin typeface="Calibri"/>
              </a:rPr>
              <a:t>Heart rate → metric_v2</a:t>
            </a:r>
          </a:p>
        </p:txBody>
      </p:sp>
      <p:sp>
        <p:nvSpPr>
          <p:cNvPr id="13" name="TextBox 12"/>
          <p:cNvSpPr txBox="1"/>
          <p:nvPr/>
        </p:nvSpPr>
        <p:spPr>
          <a:xfrm>
            <a:off x="731520" y="3739896"/>
            <a:ext cx="4846320" cy="640080"/>
          </a:xfrm>
          <a:prstGeom prst="rect">
            <a:avLst/>
          </a:prstGeom>
          <a:noFill/>
        </p:spPr>
        <p:txBody>
          <a:bodyPr wrap="square">
            <a:spAutoFit/>
          </a:bodyPr>
          <a:lstStyle/>
          <a:p>
            <a:pPr algn="l"/>
            <a:r>
              <a:rPr sz="1800" b="0">
                <a:solidFill>
                  <a:srgbClr val="1C1C1C"/>
                </a:solidFill>
                <a:latin typeface="Calibri"/>
              </a:rPr>
              <a:t>The whole line → csv_raw</a:t>
            </a:r>
          </a:p>
        </p:txBody>
      </p:sp>
      <p:sp>
        <p:nvSpPr>
          <p:cNvPr id="14" name="TextBox 13"/>
          <p:cNvSpPr txBox="1"/>
          <p:nvPr/>
        </p:nvSpPr>
        <p:spPr>
          <a:xfrm>
            <a:off x="731520" y="4398264"/>
            <a:ext cx="4846320" cy="640080"/>
          </a:xfrm>
          <a:prstGeom prst="rect">
            <a:avLst/>
          </a:prstGeom>
          <a:noFill/>
        </p:spPr>
        <p:txBody>
          <a:bodyPr wrap="square">
            <a:spAutoFit/>
          </a:bodyPr>
          <a:lstStyle/>
          <a:p>
            <a:pPr algn="l"/>
            <a:r>
              <a:rPr sz="1800" b="0">
                <a:solidFill>
                  <a:srgbClr val="1C1C1C"/>
                </a:solidFill>
                <a:latin typeface="Calibri"/>
              </a:rPr>
              <a:t>Mode, session, and time</a:t>
            </a:r>
          </a:p>
        </p:txBody>
      </p:sp>
      <p:sp>
        <p:nvSpPr>
          <p:cNvPr id="15" name="Rounded Rectangle 14"/>
          <p:cNvSpPr/>
          <p:nvPr/>
        </p:nvSpPr>
        <p:spPr>
          <a:xfrm>
            <a:off x="626364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828800"/>
            <a:ext cx="4846320" cy="457200"/>
          </a:xfrm>
          <a:prstGeom prst="rect">
            <a:avLst/>
          </a:prstGeom>
          <a:noFill/>
        </p:spPr>
        <p:txBody>
          <a:bodyPr wrap="square">
            <a:spAutoFit/>
          </a:bodyPr>
          <a:lstStyle/>
          <a:p>
            <a:pPr algn="l"/>
            <a:r>
              <a:rPr sz="2000" b="1">
                <a:solidFill>
                  <a:srgbClr val="006747"/>
                </a:solidFill>
                <a:latin typeface="Calibri"/>
              </a:rPr>
              <a:t>Only inside the line</a:t>
            </a:r>
          </a:p>
        </p:txBody>
      </p:sp>
      <p:sp>
        <p:nvSpPr>
          <p:cNvPr id="17" name="TextBox 16"/>
          <p:cNvSpPr txBox="1"/>
          <p:nvPr/>
        </p:nvSpPr>
        <p:spPr>
          <a:xfrm>
            <a:off x="6537960" y="2423160"/>
            <a:ext cx="4846320" cy="640080"/>
          </a:xfrm>
          <a:prstGeom prst="rect">
            <a:avLst/>
          </a:prstGeom>
          <a:noFill/>
        </p:spPr>
        <p:txBody>
          <a:bodyPr wrap="square">
            <a:spAutoFit/>
          </a:bodyPr>
          <a:lstStyle/>
          <a:p>
            <a:pPr algn="l"/>
            <a:r>
              <a:rPr sz="1800" b="0">
                <a:solidFill>
                  <a:srgbClr val="1C1C1C"/>
                </a:solidFill>
                <a:latin typeface="Calibri"/>
              </a:rPr>
              <a:t>Oxygen</a:t>
            </a:r>
          </a:p>
        </p:txBody>
      </p:sp>
      <p:sp>
        <p:nvSpPr>
          <p:cNvPr id="18" name="TextBox 17"/>
          <p:cNvSpPr txBox="1"/>
          <p:nvPr/>
        </p:nvSpPr>
        <p:spPr>
          <a:xfrm>
            <a:off x="6537960" y="3081528"/>
            <a:ext cx="4846320" cy="640080"/>
          </a:xfrm>
          <a:prstGeom prst="rect">
            <a:avLst/>
          </a:prstGeom>
          <a:noFill/>
        </p:spPr>
        <p:txBody>
          <a:bodyPr wrap="square">
            <a:spAutoFit/>
          </a:bodyPr>
          <a:lstStyle/>
          <a:p>
            <a:pPr algn="l"/>
            <a:r>
              <a:rPr sz="1800" b="0">
                <a:solidFill>
                  <a:srgbClr val="1C1C1C"/>
                </a:solidFill>
                <a:latin typeface="Calibri"/>
              </a:rPr>
              <a:t>Temperature</a:t>
            </a:r>
          </a:p>
        </p:txBody>
      </p:sp>
      <p:sp>
        <p:nvSpPr>
          <p:cNvPr id="19" name="TextBox 18"/>
          <p:cNvSpPr txBox="1"/>
          <p:nvPr/>
        </p:nvSpPr>
        <p:spPr>
          <a:xfrm>
            <a:off x="6537960" y="3739896"/>
            <a:ext cx="4846320" cy="640080"/>
          </a:xfrm>
          <a:prstGeom prst="rect">
            <a:avLst/>
          </a:prstGeom>
          <a:noFill/>
        </p:spPr>
        <p:txBody>
          <a:bodyPr wrap="square">
            <a:spAutoFit/>
          </a:bodyPr>
          <a:lstStyle/>
          <a:p>
            <a:pPr algn="l"/>
            <a:r>
              <a:rPr sz="1800" b="0">
                <a:solidFill>
                  <a:srgbClr val="1C1C1C"/>
                </a:solidFill>
                <a:latin typeface="Calibri"/>
              </a:rPr>
              <a:t>Bite force</a:t>
            </a:r>
          </a:p>
        </p:txBody>
      </p:sp>
      <p:sp>
        <p:nvSpPr>
          <p:cNvPr id="20" name="TextBox 19"/>
          <p:cNvSpPr txBox="1"/>
          <p:nvPr/>
        </p:nvSpPr>
        <p:spPr>
          <a:xfrm>
            <a:off x="6537960" y="4398264"/>
            <a:ext cx="4846320" cy="640080"/>
          </a:xfrm>
          <a:prstGeom prst="rect">
            <a:avLst/>
          </a:prstGeom>
          <a:noFill/>
        </p:spPr>
        <p:txBody>
          <a:bodyPr wrap="square">
            <a:spAutoFit/>
          </a:bodyPr>
          <a:lstStyle/>
          <a:p>
            <a:pPr algn="l"/>
            <a:r>
              <a:rPr sz="1800" b="0">
                <a:solidFill>
                  <a:srgbClr val="1C1C1C"/>
                </a:solidFill>
                <a:latin typeface="Calibri"/>
              </a:rPr>
              <a:t>Active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8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LABELS</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The athlete confirms Training, Game, or Sleep</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A fixed set of rules can suggest a different label.</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The stored label does not change until the athlete says yes.</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Yes starts a new session and relabels recent rows on the phone.</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Rows already in the database are not rewritten.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9  /  19</a:t>
            </a:r>
          </a:p>
        </p:txBody>
      </p:sp>
      <p:sp>
        <p:nvSpPr>
          <p:cNvPr id="7" name="TextBox 6"/>
          <p:cNvSpPr txBox="1"/>
          <p:nvPr/>
        </p:nvSpPr>
        <p:spPr>
          <a:xfrm>
            <a:off x="502920" y="292608"/>
            <a:ext cx="10972800" cy="274320"/>
          </a:xfrm>
          <a:prstGeom prst="rect">
            <a:avLst/>
          </a:prstGeom>
          <a:noFill/>
        </p:spPr>
        <p:txBody>
          <a:bodyPr wrap="square">
            <a:spAutoFit/>
          </a:bodyPr>
          <a:lstStyle/>
          <a:p>
            <a:pPr algn="l"/>
            <a:r>
              <a:rPr sz="1400" b="1">
                <a:solidFill>
                  <a:srgbClr val="006747"/>
                </a:solidFill>
                <a:latin typeface="Calibri"/>
              </a:rPr>
              <a:t>THE TWO UNFINISHED READINGS</a:t>
            </a:r>
          </a:p>
        </p:txBody>
      </p:sp>
      <p:sp>
        <p:nvSpPr>
          <p:cNvPr id="8" name="TextBox 7"/>
          <p:cNvSpPr txBox="1"/>
          <p:nvPr/>
        </p:nvSpPr>
        <p:spPr>
          <a:xfrm>
            <a:off x="502920" y="594360"/>
            <a:ext cx="10972800" cy="731520"/>
          </a:xfrm>
          <a:prstGeom prst="rect">
            <a:avLst/>
          </a:prstGeom>
          <a:noFill/>
        </p:spPr>
        <p:txBody>
          <a:bodyPr wrap="square">
            <a:spAutoFit/>
          </a:bodyPr>
          <a:lstStyle/>
          <a:p>
            <a:pPr algn="l"/>
            <a:r>
              <a:rPr sz="3000" b="1">
                <a:solidFill>
                  <a:srgbClr val="1C1C1C"/>
                </a:solidFill>
                <a:latin typeface="Calibri"/>
              </a:rPr>
              <a:t>These numbers are not the final product</a:t>
            </a:r>
          </a:p>
        </p:txBody>
      </p:sp>
      <p:sp>
        <p:nvSpPr>
          <p:cNvPr id="9" name="Rounded Rectangle 8"/>
          <p:cNvSpPr/>
          <p:nvPr/>
        </p:nvSpPr>
        <p:spPr>
          <a:xfrm>
            <a:off x="45720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4846320" cy="457200"/>
          </a:xfrm>
          <a:prstGeom prst="rect">
            <a:avLst/>
          </a:prstGeom>
          <a:noFill/>
        </p:spPr>
        <p:txBody>
          <a:bodyPr wrap="square">
            <a:spAutoFit/>
          </a:bodyPr>
          <a:lstStyle/>
          <a:p>
            <a:pPr algn="l"/>
            <a:r>
              <a:rPr sz="2000" b="1">
                <a:solidFill>
                  <a:srgbClr val="006747"/>
                </a:solidFill>
                <a:latin typeface="Calibri"/>
              </a:rPr>
              <a:t>Head acceleration</a:t>
            </a:r>
          </a:p>
        </p:txBody>
      </p:sp>
      <p:sp>
        <p:nvSpPr>
          <p:cNvPr id="11" name="TextBox 10"/>
          <p:cNvSpPr txBox="1"/>
          <p:nvPr/>
        </p:nvSpPr>
        <p:spPr>
          <a:xfrm>
            <a:off x="731520" y="2423160"/>
            <a:ext cx="4846320" cy="640080"/>
          </a:xfrm>
          <a:prstGeom prst="rect">
            <a:avLst/>
          </a:prstGeom>
          <a:noFill/>
        </p:spPr>
        <p:txBody>
          <a:bodyPr wrap="square">
            <a:spAutoFit/>
          </a:bodyPr>
          <a:lstStyle/>
          <a:p>
            <a:pPr algn="l"/>
            <a:r>
              <a:rPr sz="1800" b="0">
                <a:solidFill>
                  <a:srgbClr val="1C1C1C"/>
                </a:solidFill>
                <a:latin typeface="Calibri"/>
              </a:rPr>
              <a:t>One integer. The card adds g.</a:t>
            </a:r>
          </a:p>
        </p:txBody>
      </p:sp>
      <p:sp>
        <p:nvSpPr>
          <p:cNvPr id="12" name="TextBox 11"/>
          <p:cNvSpPr txBox="1"/>
          <p:nvPr/>
        </p:nvSpPr>
        <p:spPr>
          <a:xfrm>
            <a:off x="731520" y="3081528"/>
            <a:ext cx="4846320" cy="640080"/>
          </a:xfrm>
          <a:prstGeom prst="rect">
            <a:avLst/>
          </a:prstGeom>
          <a:noFill/>
        </p:spPr>
        <p:txBody>
          <a:bodyPr wrap="square">
            <a:spAutoFit/>
          </a:bodyPr>
          <a:lstStyle/>
          <a:p>
            <a:pPr algn="l"/>
            <a:r>
              <a:rPr sz="1800" b="0">
                <a:solidFill>
                  <a:srgbClr val="1C1C1C"/>
                </a:solidFill>
                <a:latin typeface="Calibri"/>
              </a:rPr>
              <a:t>A hit needs distance, velocity, and time.</a:t>
            </a:r>
          </a:p>
        </p:txBody>
      </p:sp>
      <p:sp>
        <p:nvSpPr>
          <p:cNvPr id="13" name="TextBox 12"/>
          <p:cNvSpPr txBox="1"/>
          <p:nvPr/>
        </p:nvSpPr>
        <p:spPr>
          <a:xfrm>
            <a:off x="731520" y="3739896"/>
            <a:ext cx="4846320" cy="640080"/>
          </a:xfrm>
          <a:prstGeom prst="rect">
            <a:avLst/>
          </a:prstGeom>
          <a:noFill/>
        </p:spPr>
        <p:txBody>
          <a:bodyPr wrap="square">
            <a:spAutoFit/>
          </a:bodyPr>
          <a:lstStyle/>
          <a:p>
            <a:pPr algn="l"/>
            <a:r>
              <a:rPr sz="1800" b="0">
                <a:solidFill>
                  <a:srgbClr val="1C1C1C"/>
                </a:solidFill>
                <a:latin typeface="Calibri"/>
              </a:rPr>
              <a:t>Measure those only during the hit.</a:t>
            </a:r>
          </a:p>
        </p:txBody>
      </p:sp>
      <p:sp>
        <p:nvSpPr>
          <p:cNvPr id="14" name="TextBox 13"/>
          <p:cNvSpPr txBox="1"/>
          <p:nvPr/>
        </p:nvSpPr>
        <p:spPr>
          <a:xfrm>
            <a:off x="731520" y="4398264"/>
            <a:ext cx="4846320" cy="640080"/>
          </a:xfrm>
          <a:prstGeom prst="rect">
            <a:avLst/>
          </a:prstGeom>
          <a:noFill/>
        </p:spPr>
        <p:txBody>
          <a:bodyPr wrap="square">
            <a:spAutoFit/>
          </a:bodyPr>
          <a:lstStyle/>
          <a:p>
            <a:pPr algn="l"/>
            <a:r>
              <a:rPr sz="1800" b="0">
                <a:solidFill>
                  <a:srgbClr val="1C1C1C"/>
                </a:solidFill>
                <a:latin typeface="Calibri"/>
              </a:rPr>
              <a:t>The app does not compute them.</a:t>
            </a:r>
          </a:p>
        </p:txBody>
      </p:sp>
      <p:sp>
        <p:nvSpPr>
          <p:cNvPr id="15" name="Rounded Rectangle 14"/>
          <p:cNvSpPr/>
          <p:nvPr/>
        </p:nvSpPr>
        <p:spPr>
          <a:xfrm>
            <a:off x="626364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828800"/>
            <a:ext cx="4846320" cy="457200"/>
          </a:xfrm>
          <a:prstGeom prst="rect">
            <a:avLst/>
          </a:prstGeom>
          <a:noFill/>
        </p:spPr>
        <p:txBody>
          <a:bodyPr wrap="square">
            <a:spAutoFit/>
          </a:bodyPr>
          <a:lstStyle/>
          <a:p>
            <a:pPr algn="l"/>
            <a:r>
              <a:rPr sz="2000" b="1">
                <a:solidFill>
                  <a:srgbClr val="006747"/>
                </a:solidFill>
                <a:latin typeface="Calibri"/>
              </a:rPr>
              <a:t>Bite force</a:t>
            </a:r>
          </a:p>
        </p:txBody>
      </p:sp>
      <p:sp>
        <p:nvSpPr>
          <p:cNvPr id="17" name="TextBox 16"/>
          <p:cNvSpPr txBox="1"/>
          <p:nvPr/>
        </p:nvSpPr>
        <p:spPr>
          <a:xfrm>
            <a:off x="6537960" y="2423160"/>
            <a:ext cx="4846320" cy="640080"/>
          </a:xfrm>
          <a:prstGeom prst="rect">
            <a:avLst/>
          </a:prstGeom>
          <a:noFill/>
        </p:spPr>
        <p:txBody>
          <a:bodyPr wrap="square">
            <a:spAutoFit/>
          </a:bodyPr>
          <a:lstStyle/>
          <a:p>
            <a:pPr algn="l"/>
            <a:r>
              <a:rPr sz="1800" b="0">
                <a:solidFill>
                  <a:srgbClr val="1C1C1C"/>
                </a:solidFill>
                <a:latin typeface="Calibri"/>
              </a:rPr>
              <a:t>One integer, with an N label</a:t>
            </a:r>
          </a:p>
        </p:txBody>
      </p:sp>
      <p:sp>
        <p:nvSpPr>
          <p:cNvPr id="18" name="TextBox 17"/>
          <p:cNvSpPr txBox="1"/>
          <p:nvPr/>
        </p:nvSpPr>
        <p:spPr>
          <a:xfrm>
            <a:off x="6537960" y="3081528"/>
            <a:ext cx="4846320" cy="640080"/>
          </a:xfrm>
          <a:prstGeom prst="rect">
            <a:avLst/>
          </a:prstGeom>
          <a:noFill/>
        </p:spPr>
        <p:txBody>
          <a:bodyPr wrap="square">
            <a:spAutoFit/>
          </a:bodyPr>
          <a:lstStyle/>
          <a:p>
            <a:pPr algn="l"/>
            <a:r>
              <a:rPr sz="1800" b="0">
                <a:solidFill>
                  <a:srgbClr val="1C1C1C"/>
                </a:solidFill>
                <a:latin typeface="Calibri"/>
              </a:rPr>
              <a:t>Could be a hard bite</a:t>
            </a:r>
          </a:p>
        </p:txBody>
      </p:sp>
      <p:sp>
        <p:nvSpPr>
          <p:cNvPr id="19" name="TextBox 18"/>
          <p:cNvSpPr txBox="1"/>
          <p:nvPr/>
        </p:nvSpPr>
        <p:spPr>
          <a:xfrm>
            <a:off x="6537960" y="3739896"/>
            <a:ext cx="4846320" cy="640080"/>
          </a:xfrm>
          <a:prstGeom prst="rect">
            <a:avLst/>
          </a:prstGeom>
          <a:noFill/>
        </p:spPr>
        <p:txBody>
          <a:bodyPr wrap="square">
            <a:spAutoFit/>
          </a:bodyPr>
          <a:lstStyle/>
          <a:p>
            <a:pPr algn="l"/>
            <a:r>
              <a:rPr sz="1800" b="0">
                <a:solidFill>
                  <a:srgbClr val="1C1C1C"/>
                </a:solidFill>
                <a:latin typeface="Calibri"/>
              </a:rPr>
              <a:t>Could be a collision</a:t>
            </a:r>
          </a:p>
        </p:txBody>
      </p:sp>
      <p:sp>
        <p:nvSpPr>
          <p:cNvPr id="20" name="TextBox 19"/>
          <p:cNvSpPr txBox="1"/>
          <p:nvPr/>
        </p:nvSpPr>
        <p:spPr>
          <a:xfrm>
            <a:off x="6537960" y="4398264"/>
            <a:ext cx="4846320" cy="640080"/>
          </a:xfrm>
          <a:prstGeom prst="rect">
            <a:avLst/>
          </a:prstGeom>
          <a:noFill/>
        </p:spPr>
        <p:txBody>
          <a:bodyPr wrap="square">
            <a:spAutoFit/>
          </a:bodyPr>
          <a:lstStyle/>
          <a:p>
            <a:pPr algn="l"/>
            <a:r>
              <a:rPr sz="1800" b="0">
                <a:solidFill>
                  <a:srgbClr val="1C1C1C"/>
                </a:solidFill>
                <a:latin typeface="Calibri"/>
              </a:rPr>
              <a:t>The app cannot tell them apart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10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WHAT YOU CAN SEE</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The athlete path is the one that uses Bluetooth</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Sign in, choose Athlete, pair, or use the demo line.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Calibration is five labels. It stores no baseline.</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The dashboard is the live view. History is 1, 3, or 5 minutes.</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Parent and trainer screens use made-up people, not this Bluetooth 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11  /  19</a:t>
            </a:r>
          </a:p>
        </p:txBody>
      </p:sp>
      <p:sp>
        <p:nvSpPr>
          <p:cNvPr id="7" name="TextBox 6"/>
          <p:cNvSpPr txBox="1"/>
          <p:nvPr/>
        </p:nvSpPr>
        <p:spPr>
          <a:xfrm>
            <a:off x="502920" y="256032"/>
            <a:ext cx="10972800" cy="256032"/>
          </a:xfrm>
          <a:prstGeom prst="rect">
            <a:avLst/>
          </a:prstGeom>
          <a:noFill/>
        </p:spPr>
        <p:txBody>
          <a:bodyPr wrap="square">
            <a:spAutoFit/>
          </a:bodyPr>
          <a:lstStyle/>
          <a:p>
            <a:pPr algn="l"/>
            <a:r>
              <a:rPr sz="1400" b="1">
                <a:solidFill>
                  <a:srgbClr val="006747"/>
                </a:solidFill>
                <a:latin typeface="Calibri"/>
              </a:rPr>
              <a:t>INTERFACE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800" b="1">
                <a:solidFill>
                  <a:srgbClr val="1C1C1C"/>
                </a:solidFill>
                <a:latin typeface="Calibri"/>
              </a:rPr>
              <a:t>Role, profile, then the activity for this session</a:t>
            </a:r>
          </a:p>
        </p:txBody>
      </p:sp>
      <p:pic>
        <p:nvPicPr>
          <p:cNvPr id="9" name="Picture 8" descr="ui-role.png"/>
          <p:cNvPicPr>
            <a:picLocks noChangeAspect="1"/>
          </p:cNvPicPr>
          <p:nvPr/>
        </p:nvPicPr>
        <p:blipFill>
          <a:blip r:embed="rId2"/>
          <a:stretch>
            <a:fillRect/>
          </a:stretch>
        </p:blipFill>
        <p:spPr>
          <a:xfrm>
            <a:off x="2122208" y="1325880"/>
            <a:ext cx="2417445" cy="4297680"/>
          </a:xfrm>
          <a:prstGeom prst="rect">
            <a:avLst/>
          </a:prstGeom>
        </p:spPr>
      </p:pic>
      <p:sp>
        <p:nvSpPr>
          <p:cNvPr id="10" name="TextBox 9"/>
          <p:cNvSpPr txBox="1"/>
          <p:nvPr/>
        </p:nvSpPr>
        <p:spPr>
          <a:xfrm>
            <a:off x="2012480" y="5641848"/>
            <a:ext cx="2636901" cy="658368"/>
          </a:xfrm>
          <a:prstGeom prst="rect">
            <a:avLst/>
          </a:prstGeom>
          <a:noFill/>
        </p:spPr>
        <p:txBody>
          <a:bodyPr wrap="square">
            <a:spAutoFit/>
          </a:bodyPr>
          <a:lstStyle/>
          <a:p>
            <a:pPr algn="ctr"/>
            <a:r>
              <a:rPr sz="1400" b="0">
                <a:solidFill>
                  <a:srgbClr val="3F4A45"/>
                </a:solidFill>
                <a:latin typeface="Calibri"/>
              </a:rPr>
              <a:t>Choose Athlete, Parent, or Trainer</a:t>
            </a:r>
          </a:p>
        </p:txBody>
      </p:sp>
      <p:pic>
        <p:nvPicPr>
          <p:cNvPr id="11" name="Picture 10" descr="ui-profile.png"/>
          <p:cNvPicPr>
            <a:picLocks noChangeAspect="1"/>
          </p:cNvPicPr>
          <p:nvPr/>
        </p:nvPicPr>
        <p:blipFill>
          <a:blip r:embed="rId3"/>
          <a:stretch>
            <a:fillRect/>
          </a:stretch>
        </p:blipFill>
        <p:spPr>
          <a:xfrm>
            <a:off x="4887125" y="1325880"/>
            <a:ext cx="2417445" cy="4297680"/>
          </a:xfrm>
          <a:prstGeom prst="rect">
            <a:avLst/>
          </a:prstGeom>
        </p:spPr>
      </p:pic>
      <p:sp>
        <p:nvSpPr>
          <p:cNvPr id="12" name="TextBox 11"/>
          <p:cNvSpPr txBox="1"/>
          <p:nvPr/>
        </p:nvSpPr>
        <p:spPr>
          <a:xfrm>
            <a:off x="4777397" y="5641848"/>
            <a:ext cx="2636901" cy="658368"/>
          </a:xfrm>
          <a:prstGeom prst="rect">
            <a:avLst/>
          </a:prstGeom>
          <a:noFill/>
        </p:spPr>
        <p:txBody>
          <a:bodyPr wrap="square">
            <a:spAutoFit/>
          </a:bodyPr>
          <a:lstStyle/>
          <a:p>
            <a:pPr algn="ctr"/>
            <a:r>
              <a:rPr sz="1400" b="0">
                <a:solidFill>
                  <a:srgbClr val="3F4A45"/>
                </a:solidFill>
                <a:latin typeface="Calibri"/>
              </a:rPr>
              <a:t>Profile is a placeholder. Continue opens pairing.</a:t>
            </a:r>
          </a:p>
        </p:txBody>
      </p:sp>
      <p:pic>
        <p:nvPicPr>
          <p:cNvPr id="13" name="Picture 12" descr="ui-activity.png"/>
          <p:cNvPicPr>
            <a:picLocks noChangeAspect="1"/>
          </p:cNvPicPr>
          <p:nvPr/>
        </p:nvPicPr>
        <p:blipFill>
          <a:blip r:embed="rId4"/>
          <a:stretch>
            <a:fillRect/>
          </a:stretch>
        </p:blipFill>
        <p:spPr>
          <a:xfrm>
            <a:off x="7652042" y="1325880"/>
            <a:ext cx="2417445" cy="4297680"/>
          </a:xfrm>
          <a:prstGeom prst="rect">
            <a:avLst/>
          </a:prstGeom>
        </p:spPr>
      </p:pic>
      <p:sp>
        <p:nvSpPr>
          <p:cNvPr id="14" name="TextBox 13"/>
          <p:cNvSpPr txBox="1"/>
          <p:nvPr/>
        </p:nvSpPr>
        <p:spPr>
          <a:xfrm>
            <a:off x="7542314" y="5641848"/>
            <a:ext cx="2636901" cy="658368"/>
          </a:xfrm>
          <a:prstGeom prst="rect">
            <a:avLst/>
          </a:prstGeom>
          <a:noFill/>
        </p:spPr>
        <p:txBody>
          <a:bodyPr wrap="square">
            <a:spAutoFit/>
          </a:bodyPr>
          <a:lstStyle/>
          <a:p>
            <a:pPr algn="ctr"/>
            <a:r>
              <a:rPr sz="1400" b="0">
                <a:solidFill>
                  <a:srgbClr val="3F4A45"/>
                </a:solidFill>
                <a:latin typeface="Calibri"/>
              </a:rPr>
              <a:t>Training, Game, or Sleep, chosen by the athlete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12  /  19</a:t>
            </a:r>
          </a:p>
        </p:txBody>
      </p:sp>
      <p:sp>
        <p:nvSpPr>
          <p:cNvPr id="7" name="TextBox 6"/>
          <p:cNvSpPr txBox="1"/>
          <p:nvPr/>
        </p:nvSpPr>
        <p:spPr>
          <a:xfrm>
            <a:off x="502920" y="256032"/>
            <a:ext cx="10972800" cy="256032"/>
          </a:xfrm>
          <a:prstGeom prst="rect">
            <a:avLst/>
          </a:prstGeom>
          <a:noFill/>
        </p:spPr>
        <p:txBody>
          <a:bodyPr wrap="square">
            <a:spAutoFit/>
          </a:bodyPr>
          <a:lstStyle/>
          <a:p>
            <a:pPr algn="l"/>
            <a:r>
              <a:rPr sz="1400" b="1">
                <a:solidFill>
                  <a:srgbClr val="006747"/>
                </a:solidFill>
                <a:latin typeface="Calibri"/>
              </a:rPr>
              <a:t>INTERFACE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800" b="1">
                <a:solidFill>
                  <a:srgbClr val="1C1C1C"/>
                </a:solidFill>
                <a:latin typeface="Calibri"/>
              </a:rPr>
              <a:t>The live dashboard, then a question before the label changes</a:t>
            </a:r>
          </a:p>
        </p:txBody>
      </p:sp>
      <p:pic>
        <p:nvPicPr>
          <p:cNvPr id="9" name="Picture 8" descr="ui-dashboard-game.png"/>
          <p:cNvPicPr>
            <a:picLocks noChangeAspect="1"/>
          </p:cNvPicPr>
          <p:nvPr/>
        </p:nvPicPr>
        <p:blipFill>
          <a:blip r:embed="rId2"/>
          <a:stretch>
            <a:fillRect/>
          </a:stretch>
        </p:blipFill>
        <p:spPr>
          <a:xfrm>
            <a:off x="2122208" y="1325880"/>
            <a:ext cx="2417445" cy="4297680"/>
          </a:xfrm>
          <a:prstGeom prst="rect">
            <a:avLst/>
          </a:prstGeom>
        </p:spPr>
      </p:pic>
      <p:sp>
        <p:nvSpPr>
          <p:cNvPr id="10" name="TextBox 9"/>
          <p:cNvSpPr txBox="1"/>
          <p:nvPr/>
        </p:nvSpPr>
        <p:spPr>
          <a:xfrm>
            <a:off x="2012480" y="5641848"/>
            <a:ext cx="2636901" cy="658368"/>
          </a:xfrm>
          <a:prstGeom prst="rect">
            <a:avLst/>
          </a:prstGeom>
          <a:noFill/>
        </p:spPr>
        <p:txBody>
          <a:bodyPr wrap="square">
            <a:spAutoFit/>
          </a:bodyPr>
          <a:lstStyle/>
          <a:p>
            <a:pPr algn="ctr"/>
            <a:r>
              <a:rPr sz="1400" b="0">
                <a:solidFill>
                  <a:srgbClr val="3F4A45"/>
                </a:solidFill>
                <a:latin typeface="Calibri"/>
              </a:rPr>
              <a:t>Game session. 66g, band reads Low.</a:t>
            </a:r>
          </a:p>
        </p:txBody>
      </p:sp>
      <p:pic>
        <p:nvPicPr>
          <p:cNvPr id="11" name="Picture 10" descr="ui-dashboard-elevated.png"/>
          <p:cNvPicPr>
            <a:picLocks noChangeAspect="1"/>
          </p:cNvPicPr>
          <p:nvPr/>
        </p:nvPicPr>
        <p:blipFill>
          <a:blip r:embed="rId3"/>
          <a:stretch>
            <a:fillRect/>
          </a:stretch>
        </p:blipFill>
        <p:spPr>
          <a:xfrm>
            <a:off x="4887125" y="1325880"/>
            <a:ext cx="2417445" cy="4297680"/>
          </a:xfrm>
          <a:prstGeom prst="rect">
            <a:avLst/>
          </a:prstGeom>
        </p:spPr>
      </p:pic>
      <p:sp>
        <p:nvSpPr>
          <p:cNvPr id="12" name="TextBox 11"/>
          <p:cNvSpPr txBox="1"/>
          <p:nvPr/>
        </p:nvSpPr>
        <p:spPr>
          <a:xfrm>
            <a:off x="4777397" y="5641848"/>
            <a:ext cx="2636901" cy="658368"/>
          </a:xfrm>
          <a:prstGeom prst="rect">
            <a:avLst/>
          </a:prstGeom>
          <a:noFill/>
        </p:spPr>
        <p:txBody>
          <a:bodyPr wrap="square">
            <a:spAutoFit/>
          </a:bodyPr>
          <a:lstStyle/>
          <a:p>
            <a:pPr algn="ctr"/>
            <a:r>
              <a:rPr sz="1400" b="0">
                <a:solidFill>
                  <a:srgbClr val="3F4A45"/>
                </a:solidFill>
                <a:latin typeface="Calibri"/>
              </a:rPr>
              <a:t>Same screen. 149g, band reads High.</a:t>
            </a:r>
          </a:p>
        </p:txBody>
      </p:sp>
      <p:pic>
        <p:nvPicPr>
          <p:cNvPr id="13" name="Picture 12" descr="ui-mode-prompt.png"/>
          <p:cNvPicPr>
            <a:picLocks noChangeAspect="1"/>
          </p:cNvPicPr>
          <p:nvPr/>
        </p:nvPicPr>
        <p:blipFill>
          <a:blip r:embed="rId4"/>
          <a:stretch>
            <a:fillRect/>
          </a:stretch>
        </p:blipFill>
        <p:spPr>
          <a:xfrm>
            <a:off x="7652042" y="1325880"/>
            <a:ext cx="2417445" cy="4297680"/>
          </a:xfrm>
          <a:prstGeom prst="rect">
            <a:avLst/>
          </a:prstGeom>
        </p:spPr>
      </p:pic>
      <p:sp>
        <p:nvSpPr>
          <p:cNvPr id="14" name="TextBox 13"/>
          <p:cNvSpPr txBox="1"/>
          <p:nvPr/>
        </p:nvSpPr>
        <p:spPr>
          <a:xfrm>
            <a:off x="7542314" y="5641848"/>
            <a:ext cx="2636901" cy="658368"/>
          </a:xfrm>
          <a:prstGeom prst="rect">
            <a:avLst/>
          </a:prstGeom>
          <a:noFill/>
        </p:spPr>
        <p:txBody>
          <a:bodyPr wrap="square">
            <a:spAutoFit/>
          </a:bodyPr>
          <a:lstStyle/>
          <a:p>
            <a:pPr algn="ctr"/>
            <a:r>
              <a:rPr sz="1400" b="0">
                <a:solidFill>
                  <a:srgbClr val="3F4A45"/>
                </a:solidFill>
                <a:latin typeface="Calibri"/>
              </a:rPr>
              <a:t>Training stays until the athlete chooses.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13  /  19</a:t>
            </a:r>
          </a:p>
        </p:txBody>
      </p:sp>
      <p:sp>
        <p:nvSpPr>
          <p:cNvPr id="7" name="TextBox 6"/>
          <p:cNvSpPr txBox="1"/>
          <p:nvPr/>
        </p:nvSpPr>
        <p:spPr>
          <a:xfrm>
            <a:off x="502920" y="256032"/>
            <a:ext cx="10972800" cy="256032"/>
          </a:xfrm>
          <a:prstGeom prst="rect">
            <a:avLst/>
          </a:prstGeom>
          <a:noFill/>
        </p:spPr>
        <p:txBody>
          <a:bodyPr wrap="square">
            <a:spAutoFit/>
          </a:bodyPr>
          <a:lstStyle/>
          <a:p>
            <a:pPr algn="l"/>
            <a:r>
              <a:rPr sz="1400" b="1">
                <a:solidFill>
                  <a:srgbClr val="006747"/>
                </a:solidFill>
                <a:latin typeface="Calibri"/>
              </a:rPr>
              <a:t>INTERFACE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800" b="1">
                <a:solidFill>
                  <a:srgbClr val="1C1C1C"/>
                </a:solidFill>
                <a:latin typeface="Calibri"/>
              </a:rPr>
              <a:t>History is one timeline, with chart marks counted as alerts</a:t>
            </a:r>
          </a:p>
        </p:txBody>
      </p:sp>
      <p:pic>
        <p:nvPicPr>
          <p:cNvPr id="9" name="Picture 8" descr="ui-history-overview.png"/>
          <p:cNvPicPr>
            <a:picLocks noChangeAspect="1"/>
          </p:cNvPicPr>
          <p:nvPr/>
        </p:nvPicPr>
        <p:blipFill>
          <a:blip r:embed="rId2"/>
          <a:stretch>
            <a:fillRect/>
          </a:stretch>
        </p:blipFill>
        <p:spPr>
          <a:xfrm>
            <a:off x="2122208" y="1325880"/>
            <a:ext cx="2417445" cy="4297680"/>
          </a:xfrm>
          <a:prstGeom prst="rect">
            <a:avLst/>
          </a:prstGeom>
        </p:spPr>
      </p:pic>
      <p:sp>
        <p:nvSpPr>
          <p:cNvPr id="10" name="TextBox 9"/>
          <p:cNvSpPr txBox="1"/>
          <p:nvPr/>
        </p:nvSpPr>
        <p:spPr>
          <a:xfrm>
            <a:off x="2012480" y="5641848"/>
            <a:ext cx="2636901" cy="658368"/>
          </a:xfrm>
          <a:prstGeom prst="rect">
            <a:avLst/>
          </a:prstGeom>
          <a:noFill/>
        </p:spPr>
        <p:txBody>
          <a:bodyPr wrap="square">
            <a:spAutoFit/>
          </a:bodyPr>
          <a:lstStyle/>
          <a:p>
            <a:pPr algn="ctr"/>
            <a:r>
              <a:rPr sz="1400" b="0">
                <a:solidFill>
                  <a:srgbClr val="3F4A45"/>
                </a:solidFill>
                <a:latin typeface="Calibri"/>
              </a:rPr>
              <a:t>1 minute, 36 alerts, Training and Game on one strip</a:t>
            </a:r>
          </a:p>
        </p:txBody>
      </p:sp>
      <p:pic>
        <p:nvPicPr>
          <p:cNvPr id="11" name="Picture 10" descr="ui-history-hr.png"/>
          <p:cNvPicPr>
            <a:picLocks noChangeAspect="1"/>
          </p:cNvPicPr>
          <p:nvPr/>
        </p:nvPicPr>
        <p:blipFill>
          <a:blip r:embed="rId3"/>
          <a:stretch>
            <a:fillRect/>
          </a:stretch>
        </p:blipFill>
        <p:spPr>
          <a:xfrm>
            <a:off x="4887125" y="1325880"/>
            <a:ext cx="2417445" cy="4297680"/>
          </a:xfrm>
          <a:prstGeom prst="rect">
            <a:avLst/>
          </a:prstGeom>
        </p:spPr>
      </p:pic>
      <p:sp>
        <p:nvSpPr>
          <p:cNvPr id="12" name="TextBox 11"/>
          <p:cNvSpPr txBox="1"/>
          <p:nvPr/>
        </p:nvSpPr>
        <p:spPr>
          <a:xfrm>
            <a:off x="4777397" y="5641848"/>
            <a:ext cx="2636901" cy="658368"/>
          </a:xfrm>
          <a:prstGeom prst="rect">
            <a:avLst/>
          </a:prstGeom>
          <a:noFill/>
        </p:spPr>
        <p:txBody>
          <a:bodyPr wrap="square">
            <a:spAutoFit/>
          </a:bodyPr>
          <a:lstStyle/>
          <a:p>
            <a:pPr algn="ctr"/>
            <a:r>
              <a:rPr sz="1400" b="0">
                <a:solidFill>
                  <a:srgbClr val="3F4A45"/>
                </a:solidFill>
                <a:latin typeface="Calibri"/>
              </a:rPr>
              <a:t>Heart rate and SpO2. Red bars are critical marks.</a:t>
            </a:r>
          </a:p>
        </p:txBody>
      </p:sp>
      <p:pic>
        <p:nvPicPr>
          <p:cNvPr id="13" name="Picture 12" descr="ui-history-temp.png"/>
          <p:cNvPicPr>
            <a:picLocks noChangeAspect="1"/>
          </p:cNvPicPr>
          <p:nvPr/>
        </p:nvPicPr>
        <p:blipFill>
          <a:blip r:embed="rId4"/>
          <a:stretch>
            <a:fillRect/>
          </a:stretch>
        </p:blipFill>
        <p:spPr>
          <a:xfrm>
            <a:off x="7652042" y="1325880"/>
            <a:ext cx="2417445" cy="4297680"/>
          </a:xfrm>
          <a:prstGeom prst="rect">
            <a:avLst/>
          </a:prstGeom>
        </p:spPr>
      </p:pic>
      <p:sp>
        <p:nvSpPr>
          <p:cNvPr id="14" name="TextBox 13"/>
          <p:cNvSpPr txBox="1"/>
          <p:nvPr/>
        </p:nvSpPr>
        <p:spPr>
          <a:xfrm>
            <a:off x="7542314" y="5641848"/>
            <a:ext cx="2636901" cy="658368"/>
          </a:xfrm>
          <a:prstGeom prst="rect">
            <a:avLst/>
          </a:prstGeom>
          <a:noFill/>
        </p:spPr>
        <p:txBody>
          <a:bodyPr wrap="square">
            <a:spAutoFit/>
          </a:bodyPr>
          <a:lstStyle/>
          <a:p>
            <a:pPr algn="ctr"/>
            <a:r>
              <a:rPr sz="1400" b="0">
                <a:solidFill>
                  <a:srgbClr val="3F4A45"/>
                </a:solidFill>
                <a:latin typeface="Calibri"/>
              </a:rPr>
              <a:t>Temperature is orange. Red is still the critical mark.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14  /  19</a:t>
            </a:r>
          </a:p>
        </p:txBody>
      </p:sp>
      <p:sp>
        <p:nvSpPr>
          <p:cNvPr id="7" name="TextBox 6"/>
          <p:cNvSpPr txBox="1"/>
          <p:nvPr/>
        </p:nvSpPr>
        <p:spPr>
          <a:xfrm>
            <a:off x="502920" y="256032"/>
            <a:ext cx="10972800" cy="256032"/>
          </a:xfrm>
          <a:prstGeom prst="rect">
            <a:avLst/>
          </a:prstGeom>
          <a:noFill/>
        </p:spPr>
        <p:txBody>
          <a:bodyPr wrap="square">
            <a:spAutoFit/>
          </a:bodyPr>
          <a:lstStyle/>
          <a:p>
            <a:pPr algn="l"/>
            <a:r>
              <a:rPr sz="1400" b="1">
                <a:solidFill>
                  <a:srgbClr val="006747"/>
                </a:solidFill>
                <a:latin typeface="Calibri"/>
              </a:rPr>
              <a:t>INTERFACE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800" b="1">
                <a:solidFill>
                  <a:srgbClr val="1C1C1C"/>
                </a:solidFill>
                <a:latin typeface="Calibri"/>
              </a:rPr>
              <a:t>Parent and trainer screens use simulated people</a:t>
            </a:r>
          </a:p>
        </p:txBody>
      </p:sp>
      <p:pic>
        <p:nvPicPr>
          <p:cNvPr id="9" name="Picture 8" descr="ui-parent.png"/>
          <p:cNvPicPr>
            <a:picLocks noChangeAspect="1"/>
          </p:cNvPicPr>
          <p:nvPr/>
        </p:nvPicPr>
        <p:blipFill>
          <a:blip r:embed="rId2"/>
          <a:stretch>
            <a:fillRect/>
          </a:stretch>
        </p:blipFill>
        <p:spPr>
          <a:xfrm>
            <a:off x="2122208" y="1325880"/>
            <a:ext cx="2417445" cy="4297680"/>
          </a:xfrm>
          <a:prstGeom prst="rect">
            <a:avLst/>
          </a:prstGeom>
        </p:spPr>
      </p:pic>
      <p:sp>
        <p:nvSpPr>
          <p:cNvPr id="10" name="TextBox 9"/>
          <p:cNvSpPr txBox="1"/>
          <p:nvPr/>
        </p:nvSpPr>
        <p:spPr>
          <a:xfrm>
            <a:off x="2012480" y="5641848"/>
            <a:ext cx="2636901" cy="658368"/>
          </a:xfrm>
          <a:prstGeom prst="rect">
            <a:avLst/>
          </a:prstGeom>
          <a:noFill/>
        </p:spPr>
        <p:txBody>
          <a:bodyPr wrap="square">
            <a:spAutoFit/>
          </a:bodyPr>
          <a:lstStyle/>
          <a:p>
            <a:pPr algn="ctr"/>
            <a:r>
              <a:rPr sz="1400" b="0">
                <a:solidFill>
                  <a:srgbClr val="3F4A45"/>
                </a:solidFill>
                <a:latin typeface="Calibri"/>
              </a:rPr>
              <a:t>Parent view. Values are drawn on a timer.</a:t>
            </a:r>
          </a:p>
        </p:txBody>
      </p:sp>
      <p:pic>
        <p:nvPicPr>
          <p:cNvPr id="11" name="Picture 10" descr="ui-trainer-roster.png"/>
          <p:cNvPicPr>
            <a:picLocks noChangeAspect="1"/>
          </p:cNvPicPr>
          <p:nvPr/>
        </p:nvPicPr>
        <p:blipFill>
          <a:blip r:embed="rId3"/>
          <a:stretch>
            <a:fillRect/>
          </a:stretch>
        </p:blipFill>
        <p:spPr>
          <a:xfrm>
            <a:off x="4887125" y="1325880"/>
            <a:ext cx="2417445" cy="4297680"/>
          </a:xfrm>
          <a:prstGeom prst="rect">
            <a:avLst/>
          </a:prstGeom>
        </p:spPr>
      </p:pic>
      <p:sp>
        <p:nvSpPr>
          <p:cNvPr id="12" name="TextBox 11"/>
          <p:cNvSpPr txBox="1"/>
          <p:nvPr/>
        </p:nvSpPr>
        <p:spPr>
          <a:xfrm>
            <a:off x="4777397" y="5641848"/>
            <a:ext cx="2636901" cy="658368"/>
          </a:xfrm>
          <a:prstGeom prst="rect">
            <a:avLst/>
          </a:prstGeom>
          <a:noFill/>
        </p:spPr>
        <p:txBody>
          <a:bodyPr wrap="square">
            <a:spAutoFit/>
          </a:bodyPr>
          <a:lstStyle/>
          <a:p>
            <a:pPr algn="ctr"/>
            <a:r>
              <a:rPr sz="1400" b="0">
                <a:solidFill>
                  <a:srgbClr val="3F4A45"/>
                </a:solidFill>
                <a:latin typeface="Calibri"/>
              </a:rPr>
              <a:t>A fixed roster of five athletes</a:t>
            </a:r>
          </a:p>
        </p:txBody>
      </p:sp>
      <p:pic>
        <p:nvPicPr>
          <p:cNvPr id="13" name="Picture 12" descr="ui-trainer-sheet.png"/>
          <p:cNvPicPr>
            <a:picLocks noChangeAspect="1"/>
          </p:cNvPicPr>
          <p:nvPr/>
        </p:nvPicPr>
        <p:blipFill>
          <a:blip r:embed="rId4"/>
          <a:stretch>
            <a:fillRect/>
          </a:stretch>
        </p:blipFill>
        <p:spPr>
          <a:xfrm>
            <a:off x="7652042" y="1325880"/>
            <a:ext cx="2417445" cy="4297680"/>
          </a:xfrm>
          <a:prstGeom prst="rect">
            <a:avLst/>
          </a:prstGeom>
        </p:spPr>
      </p:pic>
      <p:sp>
        <p:nvSpPr>
          <p:cNvPr id="14" name="TextBox 13"/>
          <p:cNvSpPr txBox="1"/>
          <p:nvPr/>
        </p:nvSpPr>
        <p:spPr>
          <a:xfrm>
            <a:off x="7542314" y="5641848"/>
            <a:ext cx="2636901" cy="658368"/>
          </a:xfrm>
          <a:prstGeom prst="rect">
            <a:avLst/>
          </a:prstGeom>
          <a:noFill/>
        </p:spPr>
        <p:txBody>
          <a:bodyPr wrap="square">
            <a:spAutoFit/>
          </a:bodyPr>
          <a:lstStyle/>
          <a:p>
            <a:pPr algn="ctr"/>
            <a:r>
              <a:rPr sz="1400" b="0">
                <a:solidFill>
                  <a:srgbClr val="3F4A45"/>
                </a:solidFill>
                <a:latin typeface="Calibri"/>
              </a:rPr>
              <a:t>The sheet reads that same fixed record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15  /  19</a:t>
            </a:r>
          </a:p>
        </p:txBody>
      </p:sp>
      <p:sp>
        <p:nvSpPr>
          <p:cNvPr id="7" name="TextBox 6"/>
          <p:cNvSpPr txBox="1"/>
          <p:nvPr/>
        </p:nvSpPr>
        <p:spPr>
          <a:xfrm>
            <a:off x="502920" y="292608"/>
            <a:ext cx="10972800" cy="274320"/>
          </a:xfrm>
          <a:prstGeom prst="rect">
            <a:avLst/>
          </a:prstGeom>
          <a:noFill/>
        </p:spPr>
        <p:txBody>
          <a:bodyPr wrap="square">
            <a:spAutoFit/>
          </a:bodyPr>
          <a:lstStyle/>
          <a:p>
            <a:pPr algn="l"/>
            <a:r>
              <a:rPr sz="1400" b="1">
                <a:solidFill>
                  <a:srgbClr val="006747"/>
                </a:solidFill>
                <a:latin typeface="Calibri"/>
              </a:rPr>
              <a:t>RESULTS BY INSPECTION</a:t>
            </a:r>
          </a:p>
        </p:txBody>
      </p:sp>
      <p:sp>
        <p:nvSpPr>
          <p:cNvPr id="8" name="TextBox 7"/>
          <p:cNvSpPr txBox="1"/>
          <p:nvPr/>
        </p:nvSpPr>
        <p:spPr>
          <a:xfrm>
            <a:off x="502920" y="594360"/>
            <a:ext cx="10972800" cy="731520"/>
          </a:xfrm>
          <a:prstGeom prst="rect">
            <a:avLst/>
          </a:prstGeom>
          <a:noFill/>
        </p:spPr>
        <p:txBody>
          <a:bodyPr wrap="square">
            <a:spAutoFit/>
          </a:bodyPr>
          <a:lstStyle/>
          <a:p>
            <a:pPr algn="l"/>
            <a:r>
              <a:rPr sz="3000" b="1">
                <a:solidFill>
                  <a:srgbClr val="1C1C1C"/>
                </a:solidFill>
                <a:latin typeface="Calibri"/>
              </a:rPr>
              <a:t>No packet test was logged</a:t>
            </a:r>
          </a:p>
        </p:txBody>
      </p:sp>
      <p:sp>
        <p:nvSpPr>
          <p:cNvPr id="9" name="Rounded Rectangle 8"/>
          <p:cNvSpPr/>
          <p:nvPr/>
        </p:nvSpPr>
        <p:spPr>
          <a:xfrm>
            <a:off x="45720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4846320" cy="457200"/>
          </a:xfrm>
          <a:prstGeom prst="rect">
            <a:avLst/>
          </a:prstGeom>
          <a:noFill/>
        </p:spPr>
        <p:txBody>
          <a:bodyPr wrap="square">
            <a:spAutoFit/>
          </a:bodyPr>
          <a:lstStyle/>
          <a:p>
            <a:pPr algn="l"/>
            <a:r>
              <a:rPr sz="2000" b="1">
                <a:solidFill>
                  <a:srgbClr val="006747"/>
                </a:solidFill>
                <a:latin typeface="Calibri"/>
              </a:rPr>
              <a:t>Implemented</a:t>
            </a:r>
          </a:p>
        </p:txBody>
      </p:sp>
      <p:sp>
        <p:nvSpPr>
          <p:cNvPr id="11" name="TextBox 10"/>
          <p:cNvSpPr txBox="1"/>
          <p:nvPr/>
        </p:nvSpPr>
        <p:spPr>
          <a:xfrm>
            <a:off x="731520" y="2423160"/>
            <a:ext cx="4846320" cy="640080"/>
          </a:xfrm>
          <a:prstGeom prst="rect">
            <a:avLst/>
          </a:prstGeom>
          <a:noFill/>
        </p:spPr>
        <p:txBody>
          <a:bodyPr wrap="square">
            <a:spAutoFit/>
          </a:bodyPr>
          <a:lstStyle/>
          <a:p>
            <a:pPr algn="l"/>
            <a:r>
              <a:rPr sz="1800" b="0">
                <a:solidFill>
                  <a:srgbClr val="1C1C1C"/>
                </a:solidFill>
                <a:latin typeface="Calibri"/>
              </a:rPr>
              <a:t>Scan, connect, parse, show</a:t>
            </a:r>
          </a:p>
        </p:txBody>
      </p:sp>
      <p:sp>
        <p:nvSpPr>
          <p:cNvPr id="12" name="TextBox 11"/>
          <p:cNvSpPr txBox="1"/>
          <p:nvPr/>
        </p:nvSpPr>
        <p:spPr>
          <a:xfrm>
            <a:off x="731520" y="3081528"/>
            <a:ext cx="4846320" cy="640080"/>
          </a:xfrm>
          <a:prstGeom prst="rect">
            <a:avLst/>
          </a:prstGeom>
          <a:noFill/>
        </p:spPr>
        <p:txBody>
          <a:bodyPr wrap="square">
            <a:spAutoFit/>
          </a:bodyPr>
          <a:lstStyle/>
          <a:p>
            <a:pPr algn="l"/>
            <a:r>
              <a:rPr sz="1800" b="0">
                <a:solidFill>
                  <a:srgbClr val="1C1C1C"/>
                </a:solidFill>
                <a:latin typeface="Calibri"/>
              </a:rPr>
              <a:t>Phone outbox and cloud insert</a:t>
            </a:r>
          </a:p>
        </p:txBody>
      </p:sp>
      <p:sp>
        <p:nvSpPr>
          <p:cNvPr id="13" name="TextBox 12"/>
          <p:cNvSpPr txBox="1"/>
          <p:nvPr/>
        </p:nvSpPr>
        <p:spPr>
          <a:xfrm>
            <a:off x="731520" y="3739896"/>
            <a:ext cx="4846320" cy="640080"/>
          </a:xfrm>
          <a:prstGeom prst="rect">
            <a:avLst/>
          </a:prstGeom>
          <a:noFill/>
        </p:spPr>
        <p:txBody>
          <a:bodyPr wrap="square">
            <a:spAutoFit/>
          </a:bodyPr>
          <a:lstStyle/>
          <a:p>
            <a:pPr algn="l"/>
            <a:r>
              <a:rPr sz="1800" b="0">
                <a:solidFill>
                  <a:srgbClr val="1C1C1C"/>
                </a:solidFill>
                <a:latin typeface="Calibri"/>
              </a:rPr>
              <a:t>History survives a slow network</a:t>
            </a:r>
          </a:p>
        </p:txBody>
      </p:sp>
      <p:sp>
        <p:nvSpPr>
          <p:cNvPr id="14" name="TextBox 13"/>
          <p:cNvSpPr txBox="1"/>
          <p:nvPr/>
        </p:nvSpPr>
        <p:spPr>
          <a:xfrm>
            <a:off x="731520" y="4398264"/>
            <a:ext cx="4846320" cy="640080"/>
          </a:xfrm>
          <a:prstGeom prst="rect">
            <a:avLst/>
          </a:prstGeom>
          <a:noFill/>
        </p:spPr>
        <p:txBody>
          <a:bodyPr wrap="square">
            <a:spAutoFit/>
          </a:bodyPr>
          <a:lstStyle/>
          <a:p>
            <a:pPr algn="l"/>
            <a:r>
              <a:rPr sz="1800" b="0">
                <a:solidFill>
                  <a:srgbClr val="1C1C1C"/>
                </a:solidFill>
                <a:latin typeface="Calibri"/>
              </a:rPr>
              <a:t>Athlete-confirmed activity label</a:t>
            </a:r>
          </a:p>
        </p:txBody>
      </p:sp>
      <p:sp>
        <p:nvSpPr>
          <p:cNvPr id="15" name="Rounded Rectangle 14"/>
          <p:cNvSpPr/>
          <p:nvPr/>
        </p:nvSpPr>
        <p:spPr>
          <a:xfrm>
            <a:off x="6263640" y="1645920"/>
            <a:ext cx="5394960" cy="4572000"/>
          </a:xfrm>
          <a:prstGeom prst="roundRect">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828800"/>
            <a:ext cx="4846320" cy="457200"/>
          </a:xfrm>
          <a:prstGeom prst="rect">
            <a:avLst/>
          </a:prstGeom>
          <a:noFill/>
        </p:spPr>
        <p:txBody>
          <a:bodyPr wrap="square">
            <a:spAutoFit/>
          </a:bodyPr>
          <a:lstStyle/>
          <a:p>
            <a:pPr algn="l"/>
            <a:r>
              <a:rPr sz="2000" b="1">
                <a:solidFill>
                  <a:srgbClr val="006747"/>
                </a:solidFill>
                <a:latin typeface="Calibri"/>
              </a:rPr>
              <a:t>Not implemented</a:t>
            </a:r>
          </a:p>
        </p:txBody>
      </p:sp>
      <p:sp>
        <p:nvSpPr>
          <p:cNvPr id="17" name="TextBox 16"/>
          <p:cNvSpPr txBox="1"/>
          <p:nvPr/>
        </p:nvSpPr>
        <p:spPr>
          <a:xfrm>
            <a:off x="6537960" y="2423160"/>
            <a:ext cx="4846320" cy="640080"/>
          </a:xfrm>
          <a:prstGeom prst="rect">
            <a:avLst/>
          </a:prstGeom>
          <a:noFill/>
        </p:spPr>
        <p:txBody>
          <a:bodyPr wrap="square">
            <a:spAutoFit/>
          </a:bodyPr>
          <a:lstStyle/>
          <a:p>
            <a:pPr algn="l"/>
            <a:r>
              <a:rPr sz="1800" b="0">
                <a:solidFill>
                  <a:srgbClr val="1C1C1C"/>
                </a:solidFill>
                <a:latin typeface="Calibri"/>
              </a:rPr>
              <a:t>Counted delivery or latency</a:t>
            </a:r>
          </a:p>
        </p:txBody>
      </p:sp>
      <p:sp>
        <p:nvSpPr>
          <p:cNvPr id="18" name="TextBox 17"/>
          <p:cNvSpPr txBox="1"/>
          <p:nvPr/>
        </p:nvSpPr>
        <p:spPr>
          <a:xfrm>
            <a:off x="6537960" y="3081528"/>
            <a:ext cx="4846320" cy="640080"/>
          </a:xfrm>
          <a:prstGeom prst="rect">
            <a:avLst/>
          </a:prstGeom>
          <a:noFill/>
        </p:spPr>
        <p:txBody>
          <a:bodyPr wrap="square">
            <a:spAutoFit/>
          </a:bodyPr>
          <a:lstStyle/>
          <a:p>
            <a:pPr algn="l"/>
            <a:r>
              <a:rPr sz="1800" b="0">
                <a:solidFill>
                  <a:srgbClr val="1C1C1C"/>
                </a:solidFill>
                <a:latin typeface="Calibri"/>
              </a:rPr>
              <a:t>A trained model</a:t>
            </a:r>
          </a:p>
        </p:txBody>
      </p:sp>
      <p:sp>
        <p:nvSpPr>
          <p:cNvPr id="19" name="TextBox 18"/>
          <p:cNvSpPr txBox="1"/>
          <p:nvPr/>
        </p:nvSpPr>
        <p:spPr>
          <a:xfrm>
            <a:off x="6537960" y="3739896"/>
            <a:ext cx="4846320" cy="640080"/>
          </a:xfrm>
          <a:prstGeom prst="rect">
            <a:avLst/>
          </a:prstGeom>
          <a:noFill/>
        </p:spPr>
        <p:txBody>
          <a:bodyPr wrap="square">
            <a:spAutoFit/>
          </a:bodyPr>
          <a:lstStyle/>
          <a:p>
            <a:pPr algn="l"/>
            <a:r>
              <a:rPr sz="1800" b="0">
                <a:solidFill>
                  <a:srgbClr val="1C1C1C"/>
                </a:solidFill>
                <a:latin typeface="Calibri"/>
              </a:rPr>
              <a:t>A real calibration baseline</a:t>
            </a:r>
          </a:p>
        </p:txBody>
      </p:sp>
      <p:sp>
        <p:nvSpPr>
          <p:cNvPr id="20" name="TextBox 19"/>
          <p:cNvSpPr txBox="1"/>
          <p:nvPr/>
        </p:nvSpPr>
        <p:spPr>
          <a:xfrm>
            <a:off x="6537960" y="4398264"/>
            <a:ext cx="4846320" cy="640080"/>
          </a:xfrm>
          <a:prstGeom prst="rect">
            <a:avLst/>
          </a:prstGeom>
          <a:noFill/>
        </p:spPr>
        <p:txBody>
          <a:bodyPr wrap="square">
            <a:spAutoFit/>
          </a:bodyPr>
          <a:lstStyle/>
          <a:p>
            <a:pPr algn="l"/>
            <a:r>
              <a:rPr sz="1800" b="0">
                <a:solidFill>
                  <a:srgbClr val="1C1C1C"/>
                </a:solidFill>
                <a:latin typeface="Calibri"/>
              </a:rPr>
              <a:t>Encrypted Bluetooth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16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A DEFECT TO KNOW</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One reading can be inserted twice</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A successful live upload leaves the phone copy in the outbox.</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History later uploads the newest outbox rows again.</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The chart hides the pair. The database can keep both.</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There is no uniqueness rule in the checked-in SQL.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17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CONTRIBUTION</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A documented path, with the limits written down</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A phone client for the holder board's Bluetooth text line.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Local storage, a signed-in insert, and one history timeline.</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An activity label that the athlete has to confirm.</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A clear statement of what head acceleration and bite force are not.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620256"/>
            <a:ext cx="7315200" cy="219456"/>
          </a:xfrm>
          <a:prstGeom prst="rect">
            <a:avLst/>
          </a:prstGeom>
          <a:noFill/>
        </p:spPr>
        <p:txBody>
          <a:bodyPr wrap="square">
            <a:spAutoFit/>
          </a:bodyPr>
          <a:lstStyle/>
          <a:p>
            <a:pPr algn="l"/>
            <a:r>
              <a:rPr sz="1100" b="0">
                <a:solidFill>
                  <a:srgbClr val="FFFFFF"/>
                </a:solidFill>
                <a:latin typeface="Calibri"/>
              </a:rPr>
              <a:t>GuardSync  ·  Master's thesis defense</a:t>
            </a:r>
          </a:p>
        </p:txBody>
      </p:sp>
      <p:sp>
        <p:nvSpPr>
          <p:cNvPr id="6" name="TextBox 5"/>
          <p:cNvSpPr txBox="1"/>
          <p:nvPr/>
        </p:nvSpPr>
        <p:spPr>
          <a:xfrm>
            <a:off x="10424160" y="6620256"/>
            <a:ext cx="1463040" cy="219456"/>
          </a:xfrm>
          <a:prstGeom prst="rect">
            <a:avLst/>
          </a:prstGeom>
          <a:noFill/>
        </p:spPr>
        <p:txBody>
          <a:bodyPr wrap="square">
            <a:spAutoFit/>
          </a:bodyPr>
          <a:lstStyle/>
          <a:p>
            <a:pPr algn="r"/>
            <a:r>
              <a:rPr sz="1100" b="0">
                <a:solidFill>
                  <a:srgbClr val="FFFFFF"/>
                </a:solidFill>
                <a:latin typeface="Calibri"/>
              </a:rPr>
              <a:t>18  /  19</a:t>
            </a:r>
          </a:p>
        </p:txBody>
      </p:sp>
      <p:sp>
        <p:nvSpPr>
          <p:cNvPr id="7" name="TextBox 6"/>
          <p:cNvSpPr txBox="1"/>
          <p:nvPr/>
        </p:nvSpPr>
        <p:spPr>
          <a:xfrm>
            <a:off x="502920" y="292608"/>
            <a:ext cx="10972800" cy="292608"/>
          </a:xfrm>
          <a:prstGeom prst="rect">
            <a:avLst/>
          </a:prstGeom>
          <a:noFill/>
        </p:spPr>
        <p:txBody>
          <a:bodyPr wrap="square">
            <a:spAutoFit/>
          </a:bodyPr>
          <a:lstStyle/>
          <a:p>
            <a:pPr algn="l"/>
            <a:r>
              <a:rPr sz="1400" b="1">
                <a:solidFill>
                  <a:srgbClr val="006747"/>
                </a:solidFill>
                <a:latin typeface="Calibri"/>
              </a:rPr>
              <a:t>NEXT</a:t>
            </a:r>
          </a:p>
        </p:txBody>
      </p:sp>
      <p:sp>
        <p:nvSpPr>
          <p:cNvPr id="8" name="TextBox 7"/>
          <p:cNvSpPr txBox="1"/>
          <p:nvPr/>
        </p:nvSpPr>
        <p:spPr>
          <a:xfrm>
            <a:off x="502920" y="621792"/>
            <a:ext cx="10972800" cy="1051560"/>
          </a:xfrm>
          <a:prstGeom prst="rect">
            <a:avLst/>
          </a:prstGeom>
          <a:noFill/>
        </p:spPr>
        <p:txBody>
          <a:bodyPr wrap="square">
            <a:spAutoFit/>
          </a:bodyPr>
          <a:lstStyle/>
          <a:p>
            <a:pPr algn="l"/>
            <a:r>
              <a:rPr sz="3200" b="1">
                <a:solidFill>
                  <a:srgbClr val="1C1C1C"/>
                </a:solidFill>
                <a:latin typeface="Calibri"/>
              </a:rPr>
              <a:t>What changes when the mouthguard board arrives</a:t>
            </a:r>
          </a:p>
        </p:txBody>
      </p:sp>
      <p:sp>
        <p:nvSpPr>
          <p:cNvPr id="9" name="TextBox 8"/>
          <p:cNvSpPr txBox="1"/>
          <p:nvPr/>
        </p:nvSpPr>
        <p:spPr>
          <a:xfrm>
            <a:off x="640080" y="1965960"/>
            <a:ext cx="10789920" cy="777240"/>
          </a:xfrm>
          <a:prstGeom prst="rect">
            <a:avLst/>
          </a:prstGeom>
          <a:noFill/>
        </p:spPr>
        <p:txBody>
          <a:bodyPr wrap="square">
            <a:spAutoFit/>
          </a:bodyPr>
          <a:lstStyle/>
          <a:p>
            <a:pPr algn="l"/>
            <a:r>
              <a:rPr sz="2200" b="0">
                <a:solidFill>
                  <a:srgbClr val="1C1C1C"/>
                </a:solidFill>
                <a:latin typeface="Calibri"/>
              </a:rPr>
              <a:t>New message format: field types, rate, and Bluetooth service.</a:t>
            </a:r>
          </a:p>
        </p:txBody>
      </p:sp>
      <p:sp>
        <p:nvSpPr>
          <p:cNvPr id="10" name="TextBox 9"/>
          <p:cNvSpPr txBox="1"/>
          <p:nvPr/>
        </p:nvSpPr>
        <p:spPr>
          <a:xfrm>
            <a:off x="640080" y="2788920"/>
            <a:ext cx="10789920" cy="777240"/>
          </a:xfrm>
          <a:prstGeom prst="rect">
            <a:avLst/>
          </a:prstGeom>
          <a:noFill/>
        </p:spPr>
        <p:txBody>
          <a:bodyPr wrap="square">
            <a:spAutoFit/>
          </a:bodyPr>
          <a:lstStyle/>
          <a:p>
            <a:pPr algn="l"/>
            <a:r>
              <a:rPr sz="2200" b="0">
                <a:solidFill>
                  <a:srgbClr val="1C1C1C"/>
                </a:solidFill>
                <a:latin typeface="Calibri"/>
              </a:rPr>
              <a:t>For a hit: distance, velocity, and contact time on that short window.</a:t>
            </a:r>
          </a:p>
        </p:txBody>
      </p:sp>
      <p:sp>
        <p:nvSpPr>
          <p:cNvPr id="11" name="TextBox 10"/>
          <p:cNvSpPr txBox="1"/>
          <p:nvPr/>
        </p:nvSpPr>
        <p:spPr>
          <a:xfrm>
            <a:off x="640080" y="3611880"/>
            <a:ext cx="10789920" cy="777240"/>
          </a:xfrm>
          <a:prstGeom prst="rect">
            <a:avLst/>
          </a:prstGeom>
          <a:noFill/>
        </p:spPr>
        <p:txBody>
          <a:bodyPr wrap="square">
            <a:spAutoFit/>
          </a:bodyPr>
          <a:lstStyle/>
          <a:p>
            <a:pPr algn="l"/>
            <a:r>
              <a:rPr sz="2200" b="0">
                <a:solidFill>
                  <a:srgbClr val="1C1C1C"/>
                </a:solidFill>
                <a:latin typeface="Calibri"/>
              </a:rPr>
              <a:t>For bite force: this athlete's rest and hardest bite, then bite versus collision.</a:t>
            </a:r>
          </a:p>
        </p:txBody>
      </p:sp>
      <p:sp>
        <p:nvSpPr>
          <p:cNvPr id="12" name="TextBox 11"/>
          <p:cNvSpPr txBox="1"/>
          <p:nvPr/>
        </p:nvSpPr>
        <p:spPr>
          <a:xfrm>
            <a:off x="640080" y="4434840"/>
            <a:ext cx="10789920" cy="777240"/>
          </a:xfrm>
          <a:prstGeom prst="rect">
            <a:avLst/>
          </a:prstGeom>
          <a:noFill/>
        </p:spPr>
        <p:txBody>
          <a:bodyPr wrap="square">
            <a:spAutoFit/>
          </a:bodyPr>
          <a:lstStyle/>
          <a:p>
            <a:pPr algn="l"/>
            <a:r>
              <a:rPr sz="2200" b="0">
                <a:solidFill>
                  <a:srgbClr val="1C1C1C"/>
                </a:solidFill>
                <a:latin typeface="Calibri"/>
              </a:rPr>
              <a:t>One logged lab session, then bonding and encryption.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972800" cy="1097280"/>
          </a:xfrm>
          <a:prstGeom prst="rect">
            <a:avLst/>
          </a:prstGeom>
          <a:noFill/>
        </p:spPr>
        <p:txBody>
          <a:bodyPr wrap="square">
            <a:spAutoFit/>
          </a:bodyPr>
          <a:lstStyle/>
          <a:p>
            <a:pPr algn="l"/>
            <a:r>
              <a:rPr sz="6000" b="1">
                <a:solidFill>
                  <a:srgbClr val="FFFFFF"/>
                </a:solidFill>
                <a:latin typeface="Calibri"/>
              </a:rPr>
              <a:t>Questions</a:t>
            </a:r>
          </a:p>
        </p:txBody>
      </p:sp>
      <p:sp>
        <p:nvSpPr>
          <p:cNvPr id="4" name="TextBox 3"/>
          <p:cNvSpPr txBox="1"/>
          <p:nvPr/>
        </p:nvSpPr>
        <p:spPr>
          <a:xfrm>
            <a:off x="640080" y="3474720"/>
            <a:ext cx="10058400" cy="731520"/>
          </a:xfrm>
          <a:prstGeom prst="rect">
            <a:avLst/>
          </a:prstGeom>
          <a:noFill/>
        </p:spPr>
        <p:txBody>
          <a:bodyPr wrap="square">
            <a:spAutoFit/>
          </a:bodyPr>
          <a:lstStyle/>
          <a:p>
            <a:pPr algn="l"/>
            <a:r>
              <a:rPr sz="2200" b="0">
                <a:solidFill>
                  <a:srgbClr val="F7F4EC"/>
                </a:solidFill>
                <a:latin typeface="Calibri"/>
              </a:rPr>
              <a:t>I can walk the parser, the insert, or either unfinished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GuardSync master's thesis defense</dc:title>
  <dc:subject/>
  <dc:creator>Myat Phone Tha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